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6"/>
  </p:notesMasterIdLst>
  <p:sldIdLst>
    <p:sldId id="256" r:id="rId2"/>
    <p:sldId id="259" r:id="rId3"/>
    <p:sldId id="276" r:id="rId4"/>
    <p:sldId id="262" r:id="rId5"/>
    <p:sldId id="284" r:id="rId6"/>
    <p:sldId id="274" r:id="rId7"/>
    <p:sldId id="287" r:id="rId8"/>
    <p:sldId id="279" r:id="rId9"/>
    <p:sldId id="288" r:id="rId10"/>
    <p:sldId id="289" r:id="rId11"/>
    <p:sldId id="292" r:id="rId12"/>
    <p:sldId id="290" r:id="rId13"/>
    <p:sldId id="293" r:id="rId14"/>
    <p:sldId id="283" r:id="rId15"/>
  </p:sldIdLst>
  <p:sldSz cx="9144000" cy="5143500" type="screen16x9"/>
  <p:notesSz cx="6858000" cy="9144000"/>
  <p:embeddedFontLst>
    <p:embeddedFont>
      <p:font typeface="Catamaran" panose="020B0604020202020204" charset="0"/>
      <p:regular r:id="rId17"/>
      <p:bold r:id="rId18"/>
    </p:embeddedFont>
    <p:embeddedFont>
      <p:font typeface="Fugaz One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90984B-4FE5-4BC4-BCF7-9337325F0DB2}">
  <a:tblStyle styleId="{C290984B-4FE5-4BC4-BCF7-9337325F0D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C9525DD7-9B2D-2984-07EE-8C799A99C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11ce9dc6fa_1_767:notes">
            <a:extLst>
              <a:ext uri="{FF2B5EF4-FFF2-40B4-BE49-F238E27FC236}">
                <a16:creationId xmlns:a16="http://schemas.microsoft.com/office/drawing/2014/main" id="{EF21D1C3-097F-91D4-DF13-6561CAD7DD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11ce9dc6fa_1_767:notes">
            <a:extLst>
              <a:ext uri="{FF2B5EF4-FFF2-40B4-BE49-F238E27FC236}">
                <a16:creationId xmlns:a16="http://schemas.microsoft.com/office/drawing/2014/main" id="{A32A94C2-8045-8D91-6C34-16D0B20542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7545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11ce9dc6fa_1_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11ce9dc6fa_1_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>
          <a:extLst>
            <a:ext uri="{FF2B5EF4-FFF2-40B4-BE49-F238E27FC236}">
              <a16:creationId xmlns:a16="http://schemas.microsoft.com/office/drawing/2014/main" id="{532D0C5B-9553-883D-BA6C-208744D1C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11ce9dc6fa_1_783:notes">
            <a:extLst>
              <a:ext uri="{FF2B5EF4-FFF2-40B4-BE49-F238E27FC236}">
                <a16:creationId xmlns:a16="http://schemas.microsoft.com/office/drawing/2014/main" id="{944C7DFC-F594-BB6F-595D-958CABEA6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11ce9dc6fa_1_783:notes">
            <a:extLst>
              <a:ext uri="{FF2B5EF4-FFF2-40B4-BE49-F238E27FC236}">
                <a16:creationId xmlns:a16="http://schemas.microsoft.com/office/drawing/2014/main" id="{7806E80A-2A86-31B3-D8DF-B816CCA71E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2369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11ce9dc6fa_1_8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11ce9dc6fa_1_8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>
          <a:extLst>
            <a:ext uri="{FF2B5EF4-FFF2-40B4-BE49-F238E27FC236}">
              <a16:creationId xmlns:a16="http://schemas.microsoft.com/office/drawing/2014/main" id="{47283367-908E-D2CF-09C1-851BEE034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11ce9dc6fa_1_803:notes">
            <a:extLst>
              <a:ext uri="{FF2B5EF4-FFF2-40B4-BE49-F238E27FC236}">
                <a16:creationId xmlns:a16="http://schemas.microsoft.com/office/drawing/2014/main" id="{03F01D11-FC25-98D7-6679-F98AEC599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11ce9dc6fa_1_803:notes">
            <a:extLst>
              <a:ext uri="{FF2B5EF4-FFF2-40B4-BE49-F238E27FC236}">
                <a16:creationId xmlns:a16="http://schemas.microsoft.com/office/drawing/2014/main" id="{A394E9F4-9AEB-275D-EA5D-908D05FA5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806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>
          <a:extLst>
            <a:ext uri="{FF2B5EF4-FFF2-40B4-BE49-F238E27FC236}">
              <a16:creationId xmlns:a16="http://schemas.microsoft.com/office/drawing/2014/main" id="{ACA71090-6698-5B05-78DD-152D6AED6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11ce9dc6fa_1_803:notes">
            <a:extLst>
              <a:ext uri="{FF2B5EF4-FFF2-40B4-BE49-F238E27FC236}">
                <a16:creationId xmlns:a16="http://schemas.microsoft.com/office/drawing/2014/main" id="{7F44FF73-7226-328C-DC0E-8D026F342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11ce9dc6fa_1_803:notes">
            <a:extLst>
              <a:ext uri="{FF2B5EF4-FFF2-40B4-BE49-F238E27FC236}">
                <a16:creationId xmlns:a16="http://schemas.microsoft.com/office/drawing/2014/main" id="{92356168-34F6-8361-32C2-BCA4F5EDB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015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>
          <a:extLst>
            <a:ext uri="{FF2B5EF4-FFF2-40B4-BE49-F238E27FC236}">
              <a16:creationId xmlns:a16="http://schemas.microsoft.com/office/drawing/2014/main" id="{64D3AC8E-B276-A8D6-6FB4-484A398D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11ce9dc6fa_1_803:notes">
            <a:extLst>
              <a:ext uri="{FF2B5EF4-FFF2-40B4-BE49-F238E27FC236}">
                <a16:creationId xmlns:a16="http://schemas.microsoft.com/office/drawing/2014/main" id="{712368D6-C076-9A51-BEB7-BB57AD4B2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11ce9dc6fa_1_803:notes">
            <a:extLst>
              <a:ext uri="{FF2B5EF4-FFF2-40B4-BE49-F238E27FC236}">
                <a16:creationId xmlns:a16="http://schemas.microsoft.com/office/drawing/2014/main" id="{044DC382-A3A7-DC2A-7EE6-23E4D301C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6516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>
          <a:extLst>
            <a:ext uri="{FF2B5EF4-FFF2-40B4-BE49-F238E27FC236}">
              <a16:creationId xmlns:a16="http://schemas.microsoft.com/office/drawing/2014/main" id="{E33D1DB8-BD09-DA26-D570-49D18C8FE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11ce9dc6fa_1_803:notes">
            <a:extLst>
              <a:ext uri="{FF2B5EF4-FFF2-40B4-BE49-F238E27FC236}">
                <a16:creationId xmlns:a16="http://schemas.microsoft.com/office/drawing/2014/main" id="{D024C830-7E83-CC35-B8D0-9401EB831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11ce9dc6fa_1_803:notes">
            <a:extLst>
              <a:ext uri="{FF2B5EF4-FFF2-40B4-BE49-F238E27FC236}">
                <a16:creationId xmlns:a16="http://schemas.microsoft.com/office/drawing/2014/main" id="{CD269993-BD1F-32C9-5940-E785A20E4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5174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>
          <a:extLst>
            <a:ext uri="{FF2B5EF4-FFF2-40B4-BE49-F238E27FC236}">
              <a16:creationId xmlns:a16="http://schemas.microsoft.com/office/drawing/2014/main" id="{568FEA07-D56C-7BC2-2E9D-13916476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11ce9dc6fa_1_803:notes">
            <a:extLst>
              <a:ext uri="{FF2B5EF4-FFF2-40B4-BE49-F238E27FC236}">
                <a16:creationId xmlns:a16="http://schemas.microsoft.com/office/drawing/2014/main" id="{640E0332-738A-3A74-FBBF-62AB22AB4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11ce9dc6fa_1_803:notes">
            <a:extLst>
              <a:ext uri="{FF2B5EF4-FFF2-40B4-BE49-F238E27FC236}">
                <a16:creationId xmlns:a16="http://schemas.microsoft.com/office/drawing/2014/main" id="{D5A754D9-7EC1-96F7-2E75-32FFCBD45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7722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94" y="1086488"/>
            <a:ext cx="3858600" cy="17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94" y="3529712"/>
            <a:ext cx="3858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905525" y="1540775"/>
            <a:ext cx="3243000" cy="27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905550" y="959188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3769800" y="1791723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4635600" y="2621963"/>
            <a:ext cx="3795300" cy="10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body" idx="1"/>
          </p:nvPr>
        </p:nvSpPr>
        <p:spPr>
          <a:xfrm>
            <a:off x="1481400" y="2779500"/>
            <a:ext cx="3243000" cy="18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481425" y="758175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1481425" y="1539400"/>
            <a:ext cx="3243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title" idx="2"/>
          </p:nvPr>
        </p:nvSpPr>
        <p:spPr>
          <a:xfrm>
            <a:off x="1498588" y="1649000"/>
            <a:ext cx="24876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ubTitle" idx="1"/>
          </p:nvPr>
        </p:nvSpPr>
        <p:spPr>
          <a:xfrm>
            <a:off x="1498600" y="21152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title" idx="3"/>
          </p:nvPr>
        </p:nvSpPr>
        <p:spPr>
          <a:xfrm>
            <a:off x="5157807" y="1649000"/>
            <a:ext cx="24876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4"/>
          </p:nvPr>
        </p:nvSpPr>
        <p:spPr>
          <a:xfrm>
            <a:off x="5157807" y="21152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title" idx="5"/>
          </p:nvPr>
        </p:nvSpPr>
        <p:spPr>
          <a:xfrm>
            <a:off x="1498588" y="3311000"/>
            <a:ext cx="24876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ubTitle" idx="6"/>
          </p:nvPr>
        </p:nvSpPr>
        <p:spPr>
          <a:xfrm>
            <a:off x="1498600" y="37772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title" idx="7"/>
          </p:nvPr>
        </p:nvSpPr>
        <p:spPr>
          <a:xfrm>
            <a:off x="5157807" y="3311000"/>
            <a:ext cx="24876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ubTitle" idx="8"/>
          </p:nvPr>
        </p:nvSpPr>
        <p:spPr>
          <a:xfrm>
            <a:off x="5157807" y="37772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3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4541425" y="2779500"/>
            <a:ext cx="3243000" cy="18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4541450" y="758175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title" idx="2"/>
          </p:nvPr>
        </p:nvSpPr>
        <p:spPr>
          <a:xfrm>
            <a:off x="4541450" y="1539400"/>
            <a:ext cx="3243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/>
        </p:nvSpPr>
        <p:spPr>
          <a:xfrm>
            <a:off x="978625" y="3408600"/>
            <a:ext cx="290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including icons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0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and infographics &amp; images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857375" y="660662"/>
            <a:ext cx="31461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subTitle" idx="1"/>
          </p:nvPr>
        </p:nvSpPr>
        <p:spPr>
          <a:xfrm>
            <a:off x="857375" y="1562487"/>
            <a:ext cx="3146100" cy="14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/>
          <p:nvPr/>
        </p:nvSpPr>
        <p:spPr>
          <a:xfrm>
            <a:off x="5902625" y="16677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4"/>
          <p:cNvSpPr/>
          <p:nvPr/>
        </p:nvSpPr>
        <p:spPr>
          <a:xfrm>
            <a:off x="-415775" y="2071075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4"/>
          <p:cNvSpPr/>
          <p:nvPr/>
        </p:nvSpPr>
        <p:spPr>
          <a:xfrm>
            <a:off x="1216275" y="-1099550"/>
            <a:ext cx="4880700" cy="4145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4"/>
          <p:cNvSpPr/>
          <p:nvPr/>
        </p:nvSpPr>
        <p:spPr>
          <a:xfrm>
            <a:off x="2874800" y="26794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/>
          <p:nvPr/>
        </p:nvSpPr>
        <p:spPr>
          <a:xfrm>
            <a:off x="5283600" y="25161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5"/>
          <p:cNvSpPr/>
          <p:nvPr/>
        </p:nvSpPr>
        <p:spPr>
          <a:xfrm>
            <a:off x="4199950" y="-36465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5"/>
          <p:cNvSpPr/>
          <p:nvPr/>
        </p:nvSpPr>
        <p:spPr>
          <a:xfrm>
            <a:off x="-156300" y="-90275"/>
            <a:ext cx="4880700" cy="4145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/>
          <p:nvPr/>
        </p:nvSpPr>
        <p:spPr>
          <a:xfrm>
            <a:off x="56298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6"/>
          <p:cNvSpPr/>
          <p:nvPr/>
        </p:nvSpPr>
        <p:spPr>
          <a:xfrm>
            <a:off x="30831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6"/>
          <p:cNvSpPr/>
          <p:nvPr/>
        </p:nvSpPr>
        <p:spPr>
          <a:xfrm>
            <a:off x="5364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4240375" y="476099"/>
            <a:ext cx="4624500" cy="4191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8" r:id="rId5"/>
    <p:sldLayoutId id="2147483661" r:id="rId6"/>
    <p:sldLayoutId id="2147483666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/>
          <p:nvPr/>
        </p:nvSpPr>
        <p:spPr>
          <a:xfrm>
            <a:off x="4966500" y="867950"/>
            <a:ext cx="3069900" cy="23409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1"/>
          <p:cNvSpPr/>
          <p:nvPr/>
        </p:nvSpPr>
        <p:spPr>
          <a:xfrm>
            <a:off x="637600" y="195974"/>
            <a:ext cx="4228200" cy="4092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1"/>
          <p:cNvSpPr/>
          <p:nvPr/>
        </p:nvSpPr>
        <p:spPr>
          <a:xfrm>
            <a:off x="4628744" y="2801795"/>
            <a:ext cx="3821006" cy="1576954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31"/>
          <p:cNvGrpSpPr/>
          <p:nvPr/>
        </p:nvGrpSpPr>
        <p:grpSpPr>
          <a:xfrm>
            <a:off x="5100994" y="1589500"/>
            <a:ext cx="2800800" cy="584700"/>
            <a:chOff x="5100994" y="1589500"/>
            <a:chExt cx="2800800" cy="584700"/>
          </a:xfrm>
        </p:grpSpPr>
        <p:cxnSp>
          <p:nvCxnSpPr>
            <p:cNvPr id="148" name="Google Shape;148;p31"/>
            <p:cNvCxnSpPr/>
            <p:nvPr/>
          </p:nvCxnSpPr>
          <p:spPr>
            <a:xfrm rot="-5400000">
              <a:off x="4989844" y="1700650"/>
              <a:ext cx="584700" cy="362400"/>
            </a:xfrm>
            <a:prstGeom prst="bentConnector3">
              <a:avLst>
                <a:gd name="adj1" fmla="val 9999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31"/>
            <p:cNvCxnSpPr/>
            <p:nvPr/>
          </p:nvCxnSpPr>
          <p:spPr>
            <a:xfrm rot="5400000" flipH="1">
              <a:off x="7428244" y="1700650"/>
              <a:ext cx="584700" cy="362400"/>
            </a:xfrm>
            <a:prstGeom prst="bentConnector3">
              <a:avLst>
                <a:gd name="adj1" fmla="val 9999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75" y="764750"/>
            <a:ext cx="3003401" cy="3613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31"/>
          <p:cNvGrpSpPr/>
          <p:nvPr/>
        </p:nvGrpSpPr>
        <p:grpSpPr>
          <a:xfrm>
            <a:off x="5559938" y="2594775"/>
            <a:ext cx="1882925" cy="628350"/>
            <a:chOff x="5559938" y="2594775"/>
            <a:chExt cx="1882925" cy="628350"/>
          </a:xfrm>
        </p:grpSpPr>
        <p:grpSp>
          <p:nvGrpSpPr>
            <p:cNvPr id="152" name="Google Shape;152;p31"/>
            <p:cNvGrpSpPr/>
            <p:nvPr/>
          </p:nvGrpSpPr>
          <p:grpSpPr>
            <a:xfrm>
              <a:off x="5559938" y="2594775"/>
              <a:ext cx="340200" cy="628350"/>
              <a:chOff x="5546500" y="2594775"/>
              <a:chExt cx="340200" cy="628350"/>
            </a:xfrm>
          </p:grpSpPr>
          <p:sp>
            <p:nvSpPr>
              <p:cNvPr id="153" name="Google Shape;153;p31"/>
              <p:cNvSpPr/>
              <p:nvPr/>
            </p:nvSpPr>
            <p:spPr>
              <a:xfrm>
                <a:off x="5816800" y="3153225"/>
                <a:ext cx="69900" cy="69900"/>
              </a:xfrm>
              <a:prstGeom prst="ellipse">
                <a:avLst/>
              </a:prstGeom>
              <a:gradFill>
                <a:gsLst>
                  <a:gs pos="0">
                    <a:srgbClr val="82BCFE"/>
                  </a:gs>
                  <a:gs pos="100000">
                    <a:srgbClr val="0C77F1"/>
                  </a:gs>
                </a:gsLst>
                <a:lin ang="5400012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" name="Google Shape;154;p31"/>
              <p:cNvCxnSpPr>
                <a:stCxn id="153" idx="2"/>
              </p:cNvCxnSpPr>
              <p:nvPr/>
            </p:nvCxnSpPr>
            <p:spPr>
              <a:xfrm rot="10800000">
                <a:off x="5546500" y="2594775"/>
                <a:ext cx="270300" cy="593400"/>
              </a:xfrm>
              <a:prstGeom prst="bentConnector2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5" name="Google Shape;155;p31"/>
            <p:cNvGrpSpPr/>
            <p:nvPr/>
          </p:nvGrpSpPr>
          <p:grpSpPr>
            <a:xfrm flipH="1">
              <a:off x="7102663" y="2594775"/>
              <a:ext cx="340200" cy="628350"/>
              <a:chOff x="5546500" y="2594775"/>
              <a:chExt cx="340200" cy="628350"/>
            </a:xfrm>
          </p:grpSpPr>
          <p:sp>
            <p:nvSpPr>
              <p:cNvPr id="156" name="Google Shape;156;p31"/>
              <p:cNvSpPr/>
              <p:nvPr/>
            </p:nvSpPr>
            <p:spPr>
              <a:xfrm>
                <a:off x="5816800" y="3153225"/>
                <a:ext cx="69900" cy="69900"/>
              </a:xfrm>
              <a:prstGeom prst="ellipse">
                <a:avLst/>
              </a:prstGeom>
              <a:gradFill>
                <a:gsLst>
                  <a:gs pos="0">
                    <a:srgbClr val="82BCFE"/>
                  </a:gs>
                  <a:gs pos="100000">
                    <a:srgbClr val="0C77F1"/>
                  </a:gs>
                </a:gsLst>
                <a:lin ang="5400012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7" name="Google Shape;157;p31"/>
              <p:cNvCxnSpPr>
                <a:stCxn id="156" idx="2"/>
              </p:cNvCxnSpPr>
              <p:nvPr/>
            </p:nvCxnSpPr>
            <p:spPr>
              <a:xfrm rot="10800000">
                <a:off x="5546500" y="2594775"/>
                <a:ext cx="270300" cy="593400"/>
              </a:xfrm>
              <a:prstGeom prst="bentConnector2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8" name="Google Shape;158;p31"/>
          <p:cNvSpPr txBox="1">
            <a:spLocks noGrp="1"/>
          </p:cNvSpPr>
          <p:nvPr>
            <p:ph type="ctrTitle"/>
          </p:nvPr>
        </p:nvSpPr>
        <p:spPr>
          <a:xfrm>
            <a:off x="4572094" y="1086488"/>
            <a:ext cx="3934306" cy="16998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lt1"/>
                </a:solidFill>
              </a:rPr>
              <a:t>Cloud File Uploader</a:t>
            </a:r>
            <a:endParaRPr sz="48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04C39-F848-4B7F-86C8-020DF0F0ABCB}"/>
              </a:ext>
            </a:extLst>
          </p:cNvPr>
          <p:cNvSpPr txBox="1"/>
          <p:nvPr/>
        </p:nvSpPr>
        <p:spPr>
          <a:xfrm>
            <a:off x="4714406" y="3396655"/>
            <a:ext cx="4055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gaz One" panose="020B0604020202020204" charset="0"/>
              </a:rPr>
              <a:t>Course code : CSE363 : Cloud Computing</a:t>
            </a:r>
          </a:p>
          <a:p>
            <a:r>
              <a:rPr lang="en-US" dirty="0">
                <a:latin typeface="Fugaz One" panose="020B0604020202020204" charset="0"/>
              </a:rPr>
              <a:t>Instructor : DR. Ahmed </a:t>
            </a:r>
            <a:r>
              <a:rPr lang="en-US" dirty="0" err="1">
                <a:latin typeface="Fugaz One" panose="020B0604020202020204" charset="0"/>
              </a:rPr>
              <a:t>Elmasry</a:t>
            </a:r>
            <a:endParaRPr lang="en-US" dirty="0">
              <a:latin typeface="Fugaz One" panose="020B0604020202020204" charset="0"/>
            </a:endParaRPr>
          </a:p>
          <a:p>
            <a:r>
              <a:rPr lang="en-US" dirty="0">
                <a:latin typeface="Fugaz One" panose="020B0604020202020204" charset="0"/>
              </a:rPr>
              <a:t>Semester : Spring 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154F99-38A2-4DA4-853D-42F232F37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794" y="195974"/>
            <a:ext cx="2743200" cy="73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/>
          <p:nvPr/>
        </p:nvSpPr>
        <p:spPr>
          <a:xfrm>
            <a:off x="403325" y="792950"/>
            <a:ext cx="3961200" cy="35577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4"/>
          <p:cNvSpPr txBox="1">
            <a:spLocks noGrp="1"/>
          </p:cNvSpPr>
          <p:nvPr>
            <p:ph type="subTitle" idx="1"/>
          </p:nvPr>
        </p:nvSpPr>
        <p:spPr>
          <a:xfrm>
            <a:off x="3964217" y="2619486"/>
            <a:ext cx="4661100" cy="17264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This project presents a cloud-based file uploader platform developed using Node.js, Docker, and MongoDB Replica Set.</a:t>
            </a:r>
          </a:p>
          <a:p>
            <a:pPr marL="0" lvl="0" indent="0" algn="l"/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It ensures high availability and data replication through a primary-secondary-arbiter setup.</a:t>
            </a:r>
          </a:p>
          <a:p>
            <a:pPr marL="0" lvl="0" indent="0" algn="l"/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The system allows user registration, authentication, file upload, storage, and access via a web interface.</a:t>
            </a:r>
          </a:p>
        </p:txBody>
      </p:sp>
      <p:pic>
        <p:nvPicPr>
          <p:cNvPr id="222" name="Google Shape;2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050" y="766550"/>
            <a:ext cx="1938850" cy="361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34"/>
          <p:cNvCxnSpPr>
            <a:cxnSpLocks/>
            <a:stCxn id="224" idx="3"/>
            <a:endCxn id="221" idx="3"/>
          </p:cNvCxnSpPr>
          <p:nvPr/>
        </p:nvCxnSpPr>
        <p:spPr>
          <a:xfrm>
            <a:off x="8430900" y="2212623"/>
            <a:ext cx="194417" cy="1270106"/>
          </a:xfrm>
          <a:prstGeom prst="bentConnector3">
            <a:avLst>
              <a:gd name="adj1" fmla="val 217582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5" name="Google Shape;225;p34"/>
          <p:cNvGrpSpPr/>
          <p:nvPr/>
        </p:nvGrpSpPr>
        <p:grpSpPr>
          <a:xfrm>
            <a:off x="4075731" y="1484137"/>
            <a:ext cx="2024619" cy="307586"/>
            <a:chOff x="4075731" y="1234875"/>
            <a:chExt cx="2024619" cy="307586"/>
          </a:xfrm>
        </p:grpSpPr>
        <p:sp>
          <p:nvSpPr>
            <p:cNvPr id="226" name="Google Shape;226;p34"/>
            <p:cNvSpPr/>
            <p:nvPr/>
          </p:nvSpPr>
          <p:spPr>
            <a:xfrm>
              <a:off x="4075731" y="123487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7" name="Google Shape;227;p34"/>
            <p:cNvCxnSpPr>
              <a:stCxn id="224" idx="0"/>
              <a:endCxn id="226" idx="6"/>
            </p:cNvCxnSpPr>
            <p:nvPr/>
          </p:nvCxnSpPr>
          <p:spPr>
            <a:xfrm rot="5400000" flipH="1">
              <a:off x="4986600" y="428711"/>
              <a:ext cx="272700" cy="1954800"/>
            </a:xfrm>
            <a:prstGeom prst="bentConnector2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4" name="Google Shape;224;p34"/>
          <p:cNvSpPr txBox="1">
            <a:spLocks noGrp="1"/>
          </p:cNvSpPr>
          <p:nvPr>
            <p:ph type="title"/>
          </p:nvPr>
        </p:nvSpPr>
        <p:spPr>
          <a:xfrm>
            <a:off x="3769800" y="1791723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1"/>
          <p:cNvSpPr/>
          <p:nvPr/>
        </p:nvSpPr>
        <p:spPr>
          <a:xfrm>
            <a:off x="5318900" y="1038675"/>
            <a:ext cx="2165400" cy="1839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51"/>
          <p:cNvSpPr/>
          <p:nvPr/>
        </p:nvSpPr>
        <p:spPr>
          <a:xfrm>
            <a:off x="3481566" y="2727750"/>
            <a:ext cx="2165400" cy="1839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51"/>
          <p:cNvSpPr/>
          <p:nvPr/>
        </p:nvSpPr>
        <p:spPr>
          <a:xfrm>
            <a:off x="1659700" y="1038675"/>
            <a:ext cx="2165400" cy="1839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51"/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51"/>
          <p:cNvSpPr txBox="1">
            <a:spLocks noGrp="1"/>
          </p:cNvSpPr>
          <p:nvPr>
            <p:ph type="subTitle" idx="6"/>
          </p:nvPr>
        </p:nvSpPr>
        <p:spPr>
          <a:xfrm>
            <a:off x="3327900" y="38043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Creating a responsive and user-friendly frontend for upload management.</a:t>
            </a:r>
            <a:endParaRPr dirty="0"/>
          </a:p>
        </p:txBody>
      </p:sp>
      <p:sp>
        <p:nvSpPr>
          <p:cNvPr id="767" name="Google Shape;767;p51"/>
          <p:cNvSpPr txBox="1">
            <a:spLocks noGrp="1"/>
          </p:cNvSpPr>
          <p:nvPr>
            <p:ph type="subTitle" idx="1"/>
          </p:nvPr>
        </p:nvSpPr>
        <p:spPr>
          <a:xfrm>
            <a:off x="1498600" y="21152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Need for reliable, available storage solutions in the cloud.</a:t>
            </a:r>
            <a:endParaRPr dirty="0"/>
          </a:p>
        </p:txBody>
      </p:sp>
      <p:sp>
        <p:nvSpPr>
          <p:cNvPr id="769" name="Google Shape;769;p51"/>
          <p:cNvSpPr txBox="1">
            <a:spLocks noGrp="1"/>
          </p:cNvSpPr>
          <p:nvPr>
            <p:ph type="subTitle" idx="4"/>
          </p:nvPr>
        </p:nvSpPr>
        <p:spPr>
          <a:xfrm>
            <a:off x="5157807" y="21152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Ensuring data persistence, even if one database node fails.</a:t>
            </a:r>
            <a:endParaRPr dirty="0"/>
          </a:p>
        </p:txBody>
      </p:sp>
      <p:cxnSp>
        <p:nvCxnSpPr>
          <p:cNvPr id="773" name="Google Shape;773;p51"/>
          <p:cNvCxnSpPr>
            <a:cxnSpLocks/>
            <a:endCxn id="767" idx="1"/>
          </p:cNvCxnSpPr>
          <p:nvPr/>
        </p:nvCxnSpPr>
        <p:spPr>
          <a:xfrm>
            <a:off x="1498588" y="1882100"/>
            <a:ext cx="600" cy="633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4" name="Google Shape;774;p51"/>
          <p:cNvCxnSpPr>
            <a:cxnSpLocks/>
            <a:endCxn id="767" idx="3"/>
          </p:cNvCxnSpPr>
          <p:nvPr/>
        </p:nvCxnSpPr>
        <p:spPr>
          <a:xfrm>
            <a:off x="3986188" y="1882100"/>
            <a:ext cx="600" cy="633000"/>
          </a:xfrm>
          <a:prstGeom prst="bentConnector3">
            <a:avLst>
              <a:gd name="adj1" fmla="val 3968956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51"/>
          <p:cNvCxnSpPr>
            <a:cxnSpLocks/>
            <a:endCxn id="769" idx="1"/>
          </p:cNvCxnSpPr>
          <p:nvPr/>
        </p:nvCxnSpPr>
        <p:spPr>
          <a:xfrm>
            <a:off x="5157807" y="1882100"/>
            <a:ext cx="600" cy="633000"/>
          </a:xfrm>
          <a:prstGeom prst="bentConnector3">
            <a:avLst>
              <a:gd name="adj1" fmla="val -3968752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51"/>
          <p:cNvCxnSpPr>
            <a:cxnSpLocks/>
            <a:endCxn id="769" idx="3"/>
          </p:cNvCxnSpPr>
          <p:nvPr/>
        </p:nvCxnSpPr>
        <p:spPr>
          <a:xfrm>
            <a:off x="7645407" y="1882100"/>
            <a:ext cx="600" cy="6330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9" name="Google Shape;779;p51"/>
          <p:cNvCxnSpPr>
            <a:cxnSpLocks/>
            <a:endCxn id="765" idx="3"/>
          </p:cNvCxnSpPr>
          <p:nvPr/>
        </p:nvCxnSpPr>
        <p:spPr>
          <a:xfrm>
            <a:off x="5815488" y="3571200"/>
            <a:ext cx="600" cy="633000"/>
          </a:xfrm>
          <a:prstGeom prst="bentConnector3">
            <a:avLst>
              <a:gd name="adj1" fmla="val 3968956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0" name="Google Shape;780;p51"/>
          <p:cNvCxnSpPr>
            <a:cxnSpLocks/>
            <a:endCxn id="765" idx="1"/>
          </p:cNvCxnSpPr>
          <p:nvPr/>
        </p:nvCxnSpPr>
        <p:spPr>
          <a:xfrm>
            <a:off x="3327888" y="3571200"/>
            <a:ext cx="600" cy="633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81" name="Google Shape;781;p51"/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782" name="Google Shape;782;p51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83" name="Google Shape;783;p51"/>
            <p:cNvCxnSpPr>
              <a:stCxn id="782" idx="2"/>
              <a:endCxn id="764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84" name="Google Shape;784;p51"/>
          <p:cNvGrpSpPr/>
          <p:nvPr/>
        </p:nvGrpSpPr>
        <p:grpSpPr>
          <a:xfrm flipH="1">
            <a:off x="8567798" y="860175"/>
            <a:ext cx="171000" cy="3574050"/>
            <a:chOff x="5816800" y="2392275"/>
            <a:chExt cx="171000" cy="3574050"/>
          </a:xfrm>
        </p:grpSpPr>
        <p:sp>
          <p:nvSpPr>
            <p:cNvPr id="785" name="Google Shape;785;p51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86" name="Google Shape;786;p51"/>
            <p:cNvCxnSpPr>
              <a:stCxn id="785" idx="2"/>
              <a:endCxn id="764" idx="3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87" name="Google Shape;787;p51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Problem Statement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/>
          <p:nvPr/>
        </p:nvSpPr>
        <p:spPr>
          <a:xfrm>
            <a:off x="5407274" y="722775"/>
            <a:ext cx="3374700" cy="3488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7"/>
          <p:cNvSpPr/>
          <p:nvPr/>
        </p:nvSpPr>
        <p:spPr>
          <a:xfrm>
            <a:off x="1285225" y="827875"/>
            <a:ext cx="3635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7"/>
          <p:cNvSpPr txBox="1">
            <a:spLocks noGrp="1"/>
          </p:cNvSpPr>
          <p:nvPr>
            <p:ph type="body" idx="1"/>
          </p:nvPr>
        </p:nvSpPr>
        <p:spPr>
          <a:xfrm>
            <a:off x="683993" y="1374929"/>
            <a:ext cx="5738762" cy="2742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-US" dirty="0">
                <a:solidFill>
                  <a:schemeClr val="lt1"/>
                </a:solidFill>
              </a:rPr>
              <a:t>Design and deploy a file uploader with </a:t>
            </a:r>
            <a:r>
              <a:rPr lang="en-US" dirty="0" err="1">
                <a:solidFill>
                  <a:schemeClr val="lt1"/>
                </a:solidFill>
              </a:rPr>
              <a:t>Dockerized</a:t>
            </a:r>
            <a:r>
              <a:rPr lang="en-US" dirty="0">
                <a:solidFill>
                  <a:schemeClr val="lt1"/>
                </a:solidFill>
              </a:rPr>
              <a:t> Node.js.</a:t>
            </a:r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-US" dirty="0">
                <a:solidFill>
                  <a:schemeClr val="lt1"/>
                </a:solidFill>
              </a:rPr>
              <a:t>Implement MongoDB replica set (Mongo1, Mongo2, Arbiter).</a:t>
            </a:r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-US" dirty="0">
                <a:solidFill>
                  <a:schemeClr val="lt1"/>
                </a:solidFill>
              </a:rPr>
              <a:t>Provide shared storage across Node.js instances.</a:t>
            </a:r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-US" dirty="0">
                <a:solidFill>
                  <a:schemeClr val="lt1"/>
                </a:solidFill>
              </a:rPr>
              <a:t>Enable user-specific file management with login, register, upload, view, and logout features.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289" name="Google Shape;2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8763" y="848450"/>
            <a:ext cx="1749851" cy="3446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" name="Google Shape;292;p37"/>
          <p:cNvGrpSpPr/>
          <p:nvPr/>
        </p:nvGrpSpPr>
        <p:grpSpPr>
          <a:xfrm>
            <a:off x="683995" y="1070275"/>
            <a:ext cx="304200" cy="1501475"/>
            <a:chOff x="5816800" y="2602275"/>
            <a:chExt cx="304200" cy="3364050"/>
          </a:xfrm>
        </p:grpSpPr>
        <p:sp>
          <p:nvSpPr>
            <p:cNvPr id="293" name="Google Shape;293;p37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4" name="Google Shape;294;p37"/>
            <p:cNvCxnSpPr>
              <a:cxnSpLocks/>
              <a:stCxn id="293" idx="2"/>
              <a:endCxn id="286" idx="1"/>
            </p:cNvCxnSpPr>
            <p:nvPr/>
          </p:nvCxnSpPr>
          <p:spPr>
            <a:xfrm rot="10800000" flipH="1">
              <a:off x="5816800" y="2602275"/>
              <a:ext cx="304200" cy="3329100"/>
            </a:xfrm>
            <a:prstGeom prst="bentConnector3">
              <a:avLst>
                <a:gd name="adj1" fmla="val -78279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5" name="Google Shape;295;p37"/>
          <p:cNvSpPr txBox="1">
            <a:spLocks noGrp="1"/>
          </p:cNvSpPr>
          <p:nvPr>
            <p:ph type="title"/>
          </p:nvPr>
        </p:nvSpPr>
        <p:spPr>
          <a:xfrm>
            <a:off x="1481425" y="758175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Key Objectives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5B81423B-401D-B17B-0531-ACDE3870A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>
            <a:extLst>
              <a:ext uri="{FF2B5EF4-FFF2-40B4-BE49-F238E27FC236}">
                <a16:creationId xmlns:a16="http://schemas.microsoft.com/office/drawing/2014/main" id="{44F0A727-4BE7-B4ED-E922-025F1463E22E}"/>
              </a:ext>
            </a:extLst>
          </p:cNvPr>
          <p:cNvSpPr/>
          <p:nvPr/>
        </p:nvSpPr>
        <p:spPr>
          <a:xfrm>
            <a:off x="401450" y="629650"/>
            <a:ext cx="4324800" cy="3884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9">
            <a:extLst>
              <a:ext uri="{FF2B5EF4-FFF2-40B4-BE49-F238E27FC236}">
                <a16:creationId xmlns:a16="http://schemas.microsoft.com/office/drawing/2014/main" id="{FBEFD730-9A0C-48F4-36B6-F39119A4A05C}"/>
              </a:ext>
            </a:extLst>
          </p:cNvPr>
          <p:cNvSpPr/>
          <p:nvPr/>
        </p:nvSpPr>
        <p:spPr>
          <a:xfrm>
            <a:off x="4349109" y="827775"/>
            <a:ext cx="3635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9">
            <a:extLst>
              <a:ext uri="{FF2B5EF4-FFF2-40B4-BE49-F238E27FC236}">
                <a16:creationId xmlns:a16="http://schemas.microsoft.com/office/drawing/2014/main" id="{61E80612-BA22-46DD-2B84-C0BFF435B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74186" y="1430448"/>
            <a:ext cx="4511344" cy="27527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-US" dirty="0"/>
              <a:t>User registers and a dedicated folder is created</a:t>
            </a:r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-US" dirty="0"/>
              <a:t>User logs in, and a secure session is established.</a:t>
            </a:r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-US" dirty="0"/>
              <a:t>File upload form appears—files are stored under their unique directory.</a:t>
            </a:r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-US" dirty="0"/>
              <a:t>User can view/download files only from their folder.</a:t>
            </a:r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-US" dirty="0"/>
              <a:t>Logout destroys the session and revokes access.</a:t>
            </a:r>
            <a:endParaRPr dirty="0"/>
          </a:p>
        </p:txBody>
      </p:sp>
      <p:pic>
        <p:nvPicPr>
          <p:cNvPr id="344" name="Google Shape;344;p39">
            <a:extLst>
              <a:ext uri="{FF2B5EF4-FFF2-40B4-BE49-F238E27FC236}">
                <a16:creationId xmlns:a16="http://schemas.microsoft.com/office/drawing/2014/main" id="{DD0965EE-80E7-732D-5FA7-085CCF26C6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289" y="2220734"/>
            <a:ext cx="2645625" cy="192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9">
            <a:extLst>
              <a:ext uri="{FF2B5EF4-FFF2-40B4-BE49-F238E27FC236}">
                <a16:creationId xmlns:a16="http://schemas.microsoft.com/office/drawing/2014/main" id="{81AADE80-9369-9B56-7188-1E9D965A855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534" y="997309"/>
            <a:ext cx="2101734" cy="192565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9">
            <a:extLst>
              <a:ext uri="{FF2B5EF4-FFF2-40B4-BE49-F238E27FC236}">
                <a16:creationId xmlns:a16="http://schemas.microsoft.com/office/drawing/2014/main" id="{76F53AAD-DFA9-7E5F-7017-1B5635501A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58815" y="761523"/>
            <a:ext cx="363539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Working Principle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597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963350" y="1581050"/>
            <a:ext cx="3243000" cy="27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dirty="0"/>
              <a:t>Two VMs running Docker containers for MongoDB, Node.js, and frontend</a:t>
            </a:r>
          </a:p>
          <a:p>
            <a:pPr marL="0" indent="0">
              <a:buNone/>
            </a:pPr>
            <a:endParaRPr lang="en-US" dirty="0"/>
          </a:p>
          <a:p>
            <a:pPr marL="285750" indent="-285750"/>
            <a:r>
              <a:rPr lang="en-US" dirty="0"/>
              <a:t>Shared Storage between both servers</a:t>
            </a:r>
          </a:p>
          <a:p>
            <a:pPr marL="0" indent="0">
              <a:buNone/>
            </a:pPr>
            <a:endParaRPr lang="en-US" dirty="0"/>
          </a:p>
          <a:p>
            <a:pPr marL="285750" indent="-285750"/>
            <a:r>
              <a:rPr lang="en-US" dirty="0"/>
              <a:t>Arbiter container to handle replica election</a:t>
            </a:r>
            <a:endParaRPr dirty="0"/>
          </a:p>
        </p:txBody>
      </p:sp>
      <p:grpSp>
        <p:nvGrpSpPr>
          <p:cNvPr id="739" name="Google Shape;739;p49"/>
          <p:cNvGrpSpPr/>
          <p:nvPr/>
        </p:nvGrpSpPr>
        <p:grpSpPr>
          <a:xfrm>
            <a:off x="655419" y="1245539"/>
            <a:ext cx="399662" cy="1215164"/>
            <a:chOff x="5816800" y="2809874"/>
            <a:chExt cx="399600" cy="3156451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cxnSpLocks/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xfrm>
            <a:off x="1269823" y="997257"/>
            <a:ext cx="4756032" cy="4965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</a:rPr>
              <a:t>Architecture</a:t>
            </a:r>
            <a:endParaRPr sz="2800" dirty="0">
              <a:solidFill>
                <a:schemeClr val="dk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812DB-825D-8913-B8B7-8F6785F7C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224" y="1490463"/>
            <a:ext cx="4442216" cy="28553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>
          <a:extLst>
            <a:ext uri="{FF2B5EF4-FFF2-40B4-BE49-F238E27FC236}">
              <a16:creationId xmlns:a16="http://schemas.microsoft.com/office/drawing/2014/main" id="{1DBB282B-61D5-9D08-2EE3-2FE21AC9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>
            <a:extLst>
              <a:ext uri="{FF2B5EF4-FFF2-40B4-BE49-F238E27FC236}">
                <a16:creationId xmlns:a16="http://schemas.microsoft.com/office/drawing/2014/main" id="{4A49B744-B69F-6815-EABE-1F77A6FEB8DC}"/>
              </a:ext>
            </a:extLst>
          </p:cNvPr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>
            <a:extLst>
              <a:ext uri="{FF2B5EF4-FFF2-40B4-BE49-F238E27FC236}">
                <a16:creationId xmlns:a16="http://schemas.microsoft.com/office/drawing/2014/main" id="{5145E4DD-0B2B-6ECC-DBB5-757C3333C164}"/>
              </a:ext>
            </a:extLst>
          </p:cNvPr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8" name="Google Shape;738;p49">
            <a:extLst>
              <a:ext uri="{FF2B5EF4-FFF2-40B4-BE49-F238E27FC236}">
                <a16:creationId xmlns:a16="http://schemas.microsoft.com/office/drawing/2014/main" id="{7F10B029-DCC5-6092-DC19-7932F2F1B2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661582" y="1432425"/>
            <a:ext cx="3437593" cy="243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9" name="Google Shape;739;p49">
            <a:extLst>
              <a:ext uri="{FF2B5EF4-FFF2-40B4-BE49-F238E27FC236}">
                <a16:creationId xmlns:a16="http://schemas.microsoft.com/office/drawing/2014/main" id="{DBE98F6B-34EF-90B2-2374-973ABBA98E5C}"/>
              </a:ext>
            </a:extLst>
          </p:cNvPr>
          <p:cNvGrpSpPr/>
          <p:nvPr/>
        </p:nvGrpSpPr>
        <p:grpSpPr>
          <a:xfrm>
            <a:off x="655419" y="1245538"/>
            <a:ext cx="399662" cy="2104763"/>
            <a:chOff x="5816800" y="2809874"/>
            <a:chExt cx="399600" cy="3156451"/>
          </a:xfrm>
        </p:grpSpPr>
        <p:sp>
          <p:nvSpPr>
            <p:cNvPr id="740" name="Google Shape;740;p49">
              <a:extLst>
                <a:ext uri="{FF2B5EF4-FFF2-40B4-BE49-F238E27FC236}">
                  <a16:creationId xmlns:a16="http://schemas.microsoft.com/office/drawing/2014/main" id="{20652C08-40BA-8443-FEB5-D0A7D2B9F5D1}"/>
                </a:ext>
              </a:extLst>
            </p:cNvPr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>
              <a:extLst>
                <a:ext uri="{FF2B5EF4-FFF2-40B4-BE49-F238E27FC236}">
                  <a16:creationId xmlns:a16="http://schemas.microsoft.com/office/drawing/2014/main" id="{FB2F2219-E44E-4614-234C-827392F353E9}"/>
                </a:ext>
              </a:extLst>
            </p:cNvPr>
            <p:cNvCxnSpPr>
              <a:cxnSpLocks/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2" name="Google Shape;742;p49">
            <a:extLst>
              <a:ext uri="{FF2B5EF4-FFF2-40B4-BE49-F238E27FC236}">
                <a16:creationId xmlns:a16="http://schemas.microsoft.com/office/drawing/2014/main" id="{D55CBC88-5677-319E-8AAB-081E2FA72C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1837" y="959189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Front-End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CB203-3131-4938-C166-CEA6EFA3E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571B57-93D0-3F0B-3184-5B3F19962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94" y="1520125"/>
            <a:ext cx="3633867" cy="2757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0958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4"/>
          <p:cNvSpPr/>
          <p:nvPr/>
        </p:nvSpPr>
        <p:spPr>
          <a:xfrm>
            <a:off x="524849" y="946150"/>
            <a:ext cx="1350600" cy="12567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4"/>
          <p:cNvSpPr/>
          <p:nvPr/>
        </p:nvSpPr>
        <p:spPr>
          <a:xfrm>
            <a:off x="4492782" y="539400"/>
            <a:ext cx="4507200" cy="4194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54"/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2" name="Google Shape;862;p54"/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863" name="Google Shape;863;p54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64" name="Google Shape;864;p54"/>
            <p:cNvCxnSpPr>
              <a:stCxn id="863" idx="2"/>
              <a:endCxn id="826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65" name="Google Shape;865;p54"/>
          <p:cNvGrpSpPr/>
          <p:nvPr/>
        </p:nvGrpSpPr>
        <p:grpSpPr>
          <a:xfrm flipH="1">
            <a:off x="8567798" y="860388"/>
            <a:ext cx="171000" cy="2932050"/>
            <a:chOff x="5816800" y="2392488"/>
            <a:chExt cx="171000" cy="2932050"/>
          </a:xfrm>
        </p:grpSpPr>
        <p:sp>
          <p:nvSpPr>
            <p:cNvPr id="866" name="Google Shape;866;p54"/>
            <p:cNvSpPr/>
            <p:nvPr/>
          </p:nvSpPr>
          <p:spPr>
            <a:xfrm>
              <a:off x="5816800" y="5254638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67" name="Google Shape;867;p54"/>
            <p:cNvCxnSpPr>
              <a:stCxn id="866" idx="2"/>
              <a:endCxn id="826" idx="3"/>
            </p:cNvCxnSpPr>
            <p:nvPr/>
          </p:nvCxnSpPr>
          <p:spPr>
            <a:xfrm rot="10800000" flipH="1">
              <a:off x="5816800" y="2392488"/>
              <a:ext cx="171000" cy="2897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1" name="Google Shape;871;p5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Frontend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735835-52AB-419B-DB0F-491EB355C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1" y="1592239"/>
            <a:ext cx="3321567" cy="19590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B34E5C-6967-6D27-CF86-B421C695F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305" y="1620973"/>
            <a:ext cx="3598536" cy="19015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>
          <a:extLst>
            <a:ext uri="{FF2B5EF4-FFF2-40B4-BE49-F238E27FC236}">
              <a16:creationId xmlns:a16="http://schemas.microsoft.com/office/drawing/2014/main" id="{0B4A02E2-E51E-0630-40FC-7C48584F1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4">
            <a:extLst>
              <a:ext uri="{FF2B5EF4-FFF2-40B4-BE49-F238E27FC236}">
                <a16:creationId xmlns:a16="http://schemas.microsoft.com/office/drawing/2014/main" id="{61D6E375-6FAC-9FE1-AE25-9D31646DE913}"/>
              </a:ext>
            </a:extLst>
          </p:cNvPr>
          <p:cNvSpPr/>
          <p:nvPr/>
        </p:nvSpPr>
        <p:spPr>
          <a:xfrm>
            <a:off x="524849" y="946150"/>
            <a:ext cx="1350600" cy="12567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4">
            <a:extLst>
              <a:ext uri="{FF2B5EF4-FFF2-40B4-BE49-F238E27FC236}">
                <a16:creationId xmlns:a16="http://schemas.microsoft.com/office/drawing/2014/main" id="{8133DD0E-3BB3-5B35-81BD-235312E4245E}"/>
              </a:ext>
            </a:extLst>
          </p:cNvPr>
          <p:cNvSpPr/>
          <p:nvPr/>
        </p:nvSpPr>
        <p:spPr>
          <a:xfrm>
            <a:off x="4492782" y="539400"/>
            <a:ext cx="4507200" cy="4194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54">
            <a:extLst>
              <a:ext uri="{FF2B5EF4-FFF2-40B4-BE49-F238E27FC236}">
                <a16:creationId xmlns:a16="http://schemas.microsoft.com/office/drawing/2014/main" id="{08761BDF-D4D7-38D7-0F77-11BC5AFAB90A}"/>
              </a:ext>
            </a:extLst>
          </p:cNvPr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2" name="Google Shape;862;p54">
            <a:extLst>
              <a:ext uri="{FF2B5EF4-FFF2-40B4-BE49-F238E27FC236}">
                <a16:creationId xmlns:a16="http://schemas.microsoft.com/office/drawing/2014/main" id="{31F64485-D399-CE2D-BF41-4EF526887033}"/>
              </a:ext>
            </a:extLst>
          </p:cNvPr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863" name="Google Shape;863;p54">
              <a:extLst>
                <a:ext uri="{FF2B5EF4-FFF2-40B4-BE49-F238E27FC236}">
                  <a16:creationId xmlns:a16="http://schemas.microsoft.com/office/drawing/2014/main" id="{BA0F14D9-0EDB-DF47-E134-4B6FA45C8163}"/>
                </a:ext>
              </a:extLst>
            </p:cNvPr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64" name="Google Shape;864;p54">
              <a:extLst>
                <a:ext uri="{FF2B5EF4-FFF2-40B4-BE49-F238E27FC236}">
                  <a16:creationId xmlns:a16="http://schemas.microsoft.com/office/drawing/2014/main" id="{0E33915A-0115-3110-D886-43C14E894AAF}"/>
                </a:ext>
              </a:extLst>
            </p:cNvPr>
            <p:cNvCxnSpPr>
              <a:stCxn id="863" idx="2"/>
              <a:endCxn id="826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65" name="Google Shape;865;p54">
            <a:extLst>
              <a:ext uri="{FF2B5EF4-FFF2-40B4-BE49-F238E27FC236}">
                <a16:creationId xmlns:a16="http://schemas.microsoft.com/office/drawing/2014/main" id="{B2C5E768-331E-DFA7-6B22-E2349904E301}"/>
              </a:ext>
            </a:extLst>
          </p:cNvPr>
          <p:cNvGrpSpPr/>
          <p:nvPr/>
        </p:nvGrpSpPr>
        <p:grpSpPr>
          <a:xfrm flipH="1">
            <a:off x="8567798" y="860388"/>
            <a:ext cx="171000" cy="2932050"/>
            <a:chOff x="5816800" y="2392488"/>
            <a:chExt cx="171000" cy="2932050"/>
          </a:xfrm>
        </p:grpSpPr>
        <p:sp>
          <p:nvSpPr>
            <p:cNvPr id="866" name="Google Shape;866;p54">
              <a:extLst>
                <a:ext uri="{FF2B5EF4-FFF2-40B4-BE49-F238E27FC236}">
                  <a16:creationId xmlns:a16="http://schemas.microsoft.com/office/drawing/2014/main" id="{41D823C4-7984-2362-9F40-2B9B6042BD18}"/>
                </a:ext>
              </a:extLst>
            </p:cNvPr>
            <p:cNvSpPr/>
            <p:nvPr/>
          </p:nvSpPr>
          <p:spPr>
            <a:xfrm>
              <a:off x="5816800" y="5254638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67" name="Google Shape;867;p54">
              <a:extLst>
                <a:ext uri="{FF2B5EF4-FFF2-40B4-BE49-F238E27FC236}">
                  <a16:creationId xmlns:a16="http://schemas.microsoft.com/office/drawing/2014/main" id="{457FEA73-0FE7-166B-C9B4-4EC39876DF68}"/>
                </a:ext>
              </a:extLst>
            </p:cNvPr>
            <p:cNvCxnSpPr>
              <a:stCxn id="866" idx="2"/>
              <a:endCxn id="826" idx="3"/>
            </p:cNvCxnSpPr>
            <p:nvPr/>
          </p:nvCxnSpPr>
          <p:spPr>
            <a:xfrm rot="10800000" flipH="1">
              <a:off x="5816800" y="2392488"/>
              <a:ext cx="171000" cy="2897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1" name="Google Shape;871;p54">
            <a:extLst>
              <a:ext uri="{FF2B5EF4-FFF2-40B4-BE49-F238E27FC236}">
                <a16:creationId xmlns:a16="http://schemas.microsoft.com/office/drawing/2014/main" id="{A99B62F7-9394-0AB8-3308-530C38831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Frontend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4B451-8B08-0604-9740-797CD13E8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88" y="1769326"/>
            <a:ext cx="3717073" cy="21285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85885F-ADA8-1840-AF9B-D11BAA458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093" y="1769326"/>
            <a:ext cx="4222595" cy="21343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9619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>
          <a:extLst>
            <a:ext uri="{FF2B5EF4-FFF2-40B4-BE49-F238E27FC236}">
              <a16:creationId xmlns:a16="http://schemas.microsoft.com/office/drawing/2014/main" id="{1FDBD1B1-7559-76E2-83EB-EB6F415A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4">
            <a:extLst>
              <a:ext uri="{FF2B5EF4-FFF2-40B4-BE49-F238E27FC236}">
                <a16:creationId xmlns:a16="http://schemas.microsoft.com/office/drawing/2014/main" id="{95FCAC15-8AB6-187F-09A9-6375393B9278}"/>
              </a:ext>
            </a:extLst>
          </p:cNvPr>
          <p:cNvSpPr/>
          <p:nvPr/>
        </p:nvSpPr>
        <p:spPr>
          <a:xfrm>
            <a:off x="524849" y="946150"/>
            <a:ext cx="1350600" cy="12567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4">
            <a:extLst>
              <a:ext uri="{FF2B5EF4-FFF2-40B4-BE49-F238E27FC236}">
                <a16:creationId xmlns:a16="http://schemas.microsoft.com/office/drawing/2014/main" id="{CFFE9070-8BB0-72F2-15EA-18BC3E1022A4}"/>
              </a:ext>
            </a:extLst>
          </p:cNvPr>
          <p:cNvSpPr/>
          <p:nvPr/>
        </p:nvSpPr>
        <p:spPr>
          <a:xfrm>
            <a:off x="4492782" y="539400"/>
            <a:ext cx="4507200" cy="4194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54">
            <a:extLst>
              <a:ext uri="{FF2B5EF4-FFF2-40B4-BE49-F238E27FC236}">
                <a16:creationId xmlns:a16="http://schemas.microsoft.com/office/drawing/2014/main" id="{D93F19D4-0476-E19B-F5D8-D33AEEB38755}"/>
              </a:ext>
            </a:extLst>
          </p:cNvPr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2" name="Google Shape;862;p54">
            <a:extLst>
              <a:ext uri="{FF2B5EF4-FFF2-40B4-BE49-F238E27FC236}">
                <a16:creationId xmlns:a16="http://schemas.microsoft.com/office/drawing/2014/main" id="{D1BB6E09-2885-C456-B376-49BB5C407FD6}"/>
              </a:ext>
            </a:extLst>
          </p:cNvPr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863" name="Google Shape;863;p54">
              <a:extLst>
                <a:ext uri="{FF2B5EF4-FFF2-40B4-BE49-F238E27FC236}">
                  <a16:creationId xmlns:a16="http://schemas.microsoft.com/office/drawing/2014/main" id="{532F5AF4-ED40-1058-6CF0-DBB64CE1E27F}"/>
                </a:ext>
              </a:extLst>
            </p:cNvPr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64" name="Google Shape;864;p54">
              <a:extLst>
                <a:ext uri="{FF2B5EF4-FFF2-40B4-BE49-F238E27FC236}">
                  <a16:creationId xmlns:a16="http://schemas.microsoft.com/office/drawing/2014/main" id="{AA3FB11E-EA6C-17EF-6EC2-0D6271A40A3D}"/>
                </a:ext>
              </a:extLst>
            </p:cNvPr>
            <p:cNvCxnSpPr>
              <a:stCxn id="863" idx="2"/>
              <a:endCxn id="826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65" name="Google Shape;865;p54">
            <a:extLst>
              <a:ext uri="{FF2B5EF4-FFF2-40B4-BE49-F238E27FC236}">
                <a16:creationId xmlns:a16="http://schemas.microsoft.com/office/drawing/2014/main" id="{C69C74F5-2A47-5294-EF1B-655E2744D0B0}"/>
              </a:ext>
            </a:extLst>
          </p:cNvPr>
          <p:cNvGrpSpPr/>
          <p:nvPr/>
        </p:nvGrpSpPr>
        <p:grpSpPr>
          <a:xfrm flipH="1">
            <a:off x="8567798" y="860388"/>
            <a:ext cx="171000" cy="2932050"/>
            <a:chOff x="5816800" y="2392488"/>
            <a:chExt cx="171000" cy="2932050"/>
          </a:xfrm>
        </p:grpSpPr>
        <p:sp>
          <p:nvSpPr>
            <p:cNvPr id="866" name="Google Shape;866;p54">
              <a:extLst>
                <a:ext uri="{FF2B5EF4-FFF2-40B4-BE49-F238E27FC236}">
                  <a16:creationId xmlns:a16="http://schemas.microsoft.com/office/drawing/2014/main" id="{B15422EC-7E4E-592D-2CFA-7FABACEABF59}"/>
                </a:ext>
              </a:extLst>
            </p:cNvPr>
            <p:cNvSpPr/>
            <p:nvPr/>
          </p:nvSpPr>
          <p:spPr>
            <a:xfrm>
              <a:off x="5816800" y="5254638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67" name="Google Shape;867;p54">
              <a:extLst>
                <a:ext uri="{FF2B5EF4-FFF2-40B4-BE49-F238E27FC236}">
                  <a16:creationId xmlns:a16="http://schemas.microsoft.com/office/drawing/2014/main" id="{0CF8D643-AA0D-AE9D-5EAD-19A4BCC5773A}"/>
                </a:ext>
              </a:extLst>
            </p:cNvPr>
            <p:cNvCxnSpPr>
              <a:stCxn id="866" idx="2"/>
              <a:endCxn id="826" idx="3"/>
            </p:cNvCxnSpPr>
            <p:nvPr/>
          </p:nvCxnSpPr>
          <p:spPr>
            <a:xfrm rot="10800000" flipH="1">
              <a:off x="5816800" y="2392488"/>
              <a:ext cx="171000" cy="2897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1" name="Google Shape;871;p54">
            <a:extLst>
              <a:ext uri="{FF2B5EF4-FFF2-40B4-BE49-F238E27FC236}">
                <a16:creationId xmlns:a16="http://schemas.microsoft.com/office/drawing/2014/main" id="{C32B30D5-15F9-1E2C-78FB-6B17B35330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Frontend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AA710F-C6AB-2459-1CDB-B76BAB2B4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193" y="1513469"/>
            <a:ext cx="6193756" cy="31501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81824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>
          <a:extLst>
            <a:ext uri="{FF2B5EF4-FFF2-40B4-BE49-F238E27FC236}">
              <a16:creationId xmlns:a16="http://schemas.microsoft.com/office/drawing/2014/main" id="{15A4087A-A1A0-6DFE-0C7A-DC3D6ECBB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4">
            <a:extLst>
              <a:ext uri="{FF2B5EF4-FFF2-40B4-BE49-F238E27FC236}">
                <a16:creationId xmlns:a16="http://schemas.microsoft.com/office/drawing/2014/main" id="{33B6F07D-A84F-3836-DF5A-22D54A050417}"/>
              </a:ext>
            </a:extLst>
          </p:cNvPr>
          <p:cNvSpPr/>
          <p:nvPr/>
        </p:nvSpPr>
        <p:spPr>
          <a:xfrm>
            <a:off x="524849" y="946150"/>
            <a:ext cx="1350600" cy="12567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4">
            <a:extLst>
              <a:ext uri="{FF2B5EF4-FFF2-40B4-BE49-F238E27FC236}">
                <a16:creationId xmlns:a16="http://schemas.microsoft.com/office/drawing/2014/main" id="{B3771249-12E8-66BD-9FFF-3946F90BBEF2}"/>
              </a:ext>
            </a:extLst>
          </p:cNvPr>
          <p:cNvSpPr/>
          <p:nvPr/>
        </p:nvSpPr>
        <p:spPr>
          <a:xfrm>
            <a:off x="4492782" y="539400"/>
            <a:ext cx="4507200" cy="4194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54">
            <a:extLst>
              <a:ext uri="{FF2B5EF4-FFF2-40B4-BE49-F238E27FC236}">
                <a16:creationId xmlns:a16="http://schemas.microsoft.com/office/drawing/2014/main" id="{60EF2CE4-2005-8C6E-8029-5C4E53599A83}"/>
              </a:ext>
            </a:extLst>
          </p:cNvPr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2" name="Google Shape;862;p54">
            <a:extLst>
              <a:ext uri="{FF2B5EF4-FFF2-40B4-BE49-F238E27FC236}">
                <a16:creationId xmlns:a16="http://schemas.microsoft.com/office/drawing/2014/main" id="{34DBAD20-4526-E7CD-4120-AB1A5A8F4389}"/>
              </a:ext>
            </a:extLst>
          </p:cNvPr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863" name="Google Shape;863;p54">
              <a:extLst>
                <a:ext uri="{FF2B5EF4-FFF2-40B4-BE49-F238E27FC236}">
                  <a16:creationId xmlns:a16="http://schemas.microsoft.com/office/drawing/2014/main" id="{0A4B634C-FABA-F33E-23E4-DCF562DC85B6}"/>
                </a:ext>
              </a:extLst>
            </p:cNvPr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64" name="Google Shape;864;p54">
              <a:extLst>
                <a:ext uri="{FF2B5EF4-FFF2-40B4-BE49-F238E27FC236}">
                  <a16:creationId xmlns:a16="http://schemas.microsoft.com/office/drawing/2014/main" id="{1DDA333E-6B70-76EB-4048-3DFED9C32F46}"/>
                </a:ext>
              </a:extLst>
            </p:cNvPr>
            <p:cNvCxnSpPr>
              <a:stCxn id="863" idx="2"/>
              <a:endCxn id="826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65" name="Google Shape;865;p54">
            <a:extLst>
              <a:ext uri="{FF2B5EF4-FFF2-40B4-BE49-F238E27FC236}">
                <a16:creationId xmlns:a16="http://schemas.microsoft.com/office/drawing/2014/main" id="{4D56CE80-56A1-89B6-4377-B2D1F97EC4A4}"/>
              </a:ext>
            </a:extLst>
          </p:cNvPr>
          <p:cNvGrpSpPr/>
          <p:nvPr/>
        </p:nvGrpSpPr>
        <p:grpSpPr>
          <a:xfrm flipH="1">
            <a:off x="8567798" y="860388"/>
            <a:ext cx="171000" cy="2932050"/>
            <a:chOff x="5816800" y="2392488"/>
            <a:chExt cx="171000" cy="2932050"/>
          </a:xfrm>
        </p:grpSpPr>
        <p:sp>
          <p:nvSpPr>
            <p:cNvPr id="866" name="Google Shape;866;p54">
              <a:extLst>
                <a:ext uri="{FF2B5EF4-FFF2-40B4-BE49-F238E27FC236}">
                  <a16:creationId xmlns:a16="http://schemas.microsoft.com/office/drawing/2014/main" id="{9E49CEE2-AD82-373A-D031-7C89626FA674}"/>
                </a:ext>
              </a:extLst>
            </p:cNvPr>
            <p:cNvSpPr/>
            <p:nvPr/>
          </p:nvSpPr>
          <p:spPr>
            <a:xfrm>
              <a:off x="5816800" y="5254638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67" name="Google Shape;867;p54">
              <a:extLst>
                <a:ext uri="{FF2B5EF4-FFF2-40B4-BE49-F238E27FC236}">
                  <a16:creationId xmlns:a16="http://schemas.microsoft.com/office/drawing/2014/main" id="{82D9D540-4962-610A-50DE-4940A4FD71DB}"/>
                </a:ext>
              </a:extLst>
            </p:cNvPr>
            <p:cNvCxnSpPr>
              <a:stCxn id="866" idx="2"/>
              <a:endCxn id="826" idx="3"/>
            </p:cNvCxnSpPr>
            <p:nvPr/>
          </p:nvCxnSpPr>
          <p:spPr>
            <a:xfrm rot="10800000" flipH="1">
              <a:off x="5816800" y="2392488"/>
              <a:ext cx="171000" cy="2897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1" name="Google Shape;871;p54">
            <a:extLst>
              <a:ext uri="{FF2B5EF4-FFF2-40B4-BE49-F238E27FC236}">
                <a16:creationId xmlns:a16="http://schemas.microsoft.com/office/drawing/2014/main" id="{E8B9AC70-C093-3C9A-746C-88A5CBDD51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Backend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E0DDF6-F181-49AD-9203-C3B3BD896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193" y="1460743"/>
            <a:ext cx="6193756" cy="31501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18226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>
          <a:extLst>
            <a:ext uri="{FF2B5EF4-FFF2-40B4-BE49-F238E27FC236}">
              <a16:creationId xmlns:a16="http://schemas.microsoft.com/office/drawing/2014/main" id="{5CA25422-44A2-32C5-CCDF-877A1E84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4">
            <a:extLst>
              <a:ext uri="{FF2B5EF4-FFF2-40B4-BE49-F238E27FC236}">
                <a16:creationId xmlns:a16="http://schemas.microsoft.com/office/drawing/2014/main" id="{27394FD0-7B38-6613-79C3-97ED956E5F5E}"/>
              </a:ext>
            </a:extLst>
          </p:cNvPr>
          <p:cNvSpPr/>
          <p:nvPr/>
        </p:nvSpPr>
        <p:spPr>
          <a:xfrm>
            <a:off x="524849" y="946150"/>
            <a:ext cx="1350600" cy="12567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4">
            <a:extLst>
              <a:ext uri="{FF2B5EF4-FFF2-40B4-BE49-F238E27FC236}">
                <a16:creationId xmlns:a16="http://schemas.microsoft.com/office/drawing/2014/main" id="{3A14EE43-4751-E86F-2CB0-FF18CC99393E}"/>
              </a:ext>
            </a:extLst>
          </p:cNvPr>
          <p:cNvSpPr/>
          <p:nvPr/>
        </p:nvSpPr>
        <p:spPr>
          <a:xfrm>
            <a:off x="4492782" y="539400"/>
            <a:ext cx="4507200" cy="4194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54">
            <a:extLst>
              <a:ext uri="{FF2B5EF4-FFF2-40B4-BE49-F238E27FC236}">
                <a16:creationId xmlns:a16="http://schemas.microsoft.com/office/drawing/2014/main" id="{983C73F5-FE87-A1B5-C39B-D48AB2721181}"/>
              </a:ext>
            </a:extLst>
          </p:cNvPr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2" name="Google Shape;862;p54">
            <a:extLst>
              <a:ext uri="{FF2B5EF4-FFF2-40B4-BE49-F238E27FC236}">
                <a16:creationId xmlns:a16="http://schemas.microsoft.com/office/drawing/2014/main" id="{6518F576-5D21-1264-1608-AC844CE6A506}"/>
              </a:ext>
            </a:extLst>
          </p:cNvPr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863" name="Google Shape;863;p54">
              <a:extLst>
                <a:ext uri="{FF2B5EF4-FFF2-40B4-BE49-F238E27FC236}">
                  <a16:creationId xmlns:a16="http://schemas.microsoft.com/office/drawing/2014/main" id="{EB9FCCAA-26CC-E48D-0FD2-2EBB67F03D9D}"/>
                </a:ext>
              </a:extLst>
            </p:cNvPr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64" name="Google Shape;864;p54">
              <a:extLst>
                <a:ext uri="{FF2B5EF4-FFF2-40B4-BE49-F238E27FC236}">
                  <a16:creationId xmlns:a16="http://schemas.microsoft.com/office/drawing/2014/main" id="{D84B4C5E-A02A-68F6-5401-AA066BF5C9AF}"/>
                </a:ext>
              </a:extLst>
            </p:cNvPr>
            <p:cNvCxnSpPr>
              <a:stCxn id="863" idx="2"/>
              <a:endCxn id="826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1" name="Google Shape;871;p54">
            <a:extLst>
              <a:ext uri="{FF2B5EF4-FFF2-40B4-BE49-F238E27FC236}">
                <a16:creationId xmlns:a16="http://schemas.microsoft.com/office/drawing/2014/main" id="{0BE87FC2-4820-BFD5-A3D9-8CDD277D6C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How To Run The Server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2" name="Google Shape;224;p34">
            <a:extLst>
              <a:ext uri="{FF2B5EF4-FFF2-40B4-BE49-F238E27FC236}">
                <a16:creationId xmlns:a16="http://schemas.microsoft.com/office/drawing/2014/main" id="{9A92FFDB-04AB-DAF9-F41E-54F64EC74484}"/>
              </a:ext>
            </a:extLst>
          </p:cNvPr>
          <p:cNvSpPr txBox="1">
            <a:spLocks/>
          </p:cNvSpPr>
          <p:nvPr/>
        </p:nvSpPr>
        <p:spPr>
          <a:xfrm>
            <a:off x="1345580" y="3228487"/>
            <a:ext cx="1561102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pPr algn="r"/>
            <a:r>
              <a:rPr lang="en-US" sz="2400" dirty="0"/>
              <a:t>Mongo1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A23F04-C9D0-C291-340F-31F619C08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88" y="1271536"/>
            <a:ext cx="3601630" cy="20951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A0E0D8-9003-ADAD-09A4-3560B3F14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883" y="1250171"/>
            <a:ext cx="3753440" cy="2153110"/>
          </a:xfrm>
          <a:prstGeom prst="rect">
            <a:avLst/>
          </a:prstGeom>
        </p:spPr>
      </p:pic>
      <p:sp>
        <p:nvSpPr>
          <p:cNvPr id="17" name="Google Shape;224;p34">
            <a:extLst>
              <a:ext uri="{FF2B5EF4-FFF2-40B4-BE49-F238E27FC236}">
                <a16:creationId xmlns:a16="http://schemas.microsoft.com/office/drawing/2014/main" id="{0F965906-6743-3592-F024-664B0314F333}"/>
              </a:ext>
            </a:extLst>
          </p:cNvPr>
          <p:cNvSpPr txBox="1">
            <a:spLocks/>
          </p:cNvSpPr>
          <p:nvPr/>
        </p:nvSpPr>
        <p:spPr>
          <a:xfrm>
            <a:off x="5690052" y="3226840"/>
            <a:ext cx="1561102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pPr algn="r"/>
            <a:r>
              <a:rPr lang="en-US" sz="2400" dirty="0"/>
              <a:t>Mongo2</a:t>
            </a:r>
          </a:p>
        </p:txBody>
      </p:sp>
    </p:spTree>
    <p:extLst>
      <p:ext uri="{BB962C8B-B14F-4D97-AF65-F5344CB8AC3E}">
        <p14:creationId xmlns:p14="http://schemas.microsoft.com/office/powerpoint/2010/main" val="1336480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>
          <a:extLst>
            <a:ext uri="{FF2B5EF4-FFF2-40B4-BE49-F238E27FC236}">
              <a16:creationId xmlns:a16="http://schemas.microsoft.com/office/drawing/2014/main" id="{2D3224D0-C5D6-A503-F07C-3611BED5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4">
            <a:extLst>
              <a:ext uri="{FF2B5EF4-FFF2-40B4-BE49-F238E27FC236}">
                <a16:creationId xmlns:a16="http://schemas.microsoft.com/office/drawing/2014/main" id="{820BFB2F-458F-FFB6-958C-8B8EBE715BFD}"/>
              </a:ext>
            </a:extLst>
          </p:cNvPr>
          <p:cNvSpPr/>
          <p:nvPr/>
        </p:nvSpPr>
        <p:spPr>
          <a:xfrm>
            <a:off x="524849" y="946150"/>
            <a:ext cx="1350600" cy="12567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4">
            <a:extLst>
              <a:ext uri="{FF2B5EF4-FFF2-40B4-BE49-F238E27FC236}">
                <a16:creationId xmlns:a16="http://schemas.microsoft.com/office/drawing/2014/main" id="{C1493221-036D-62B0-75F9-3E4F7399977B}"/>
              </a:ext>
            </a:extLst>
          </p:cNvPr>
          <p:cNvSpPr/>
          <p:nvPr/>
        </p:nvSpPr>
        <p:spPr>
          <a:xfrm>
            <a:off x="4492782" y="539400"/>
            <a:ext cx="4507200" cy="4194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54">
            <a:extLst>
              <a:ext uri="{FF2B5EF4-FFF2-40B4-BE49-F238E27FC236}">
                <a16:creationId xmlns:a16="http://schemas.microsoft.com/office/drawing/2014/main" id="{975A7811-EF20-BD12-AA66-EE4CC12759F1}"/>
              </a:ext>
            </a:extLst>
          </p:cNvPr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2" name="Google Shape;862;p54">
            <a:extLst>
              <a:ext uri="{FF2B5EF4-FFF2-40B4-BE49-F238E27FC236}">
                <a16:creationId xmlns:a16="http://schemas.microsoft.com/office/drawing/2014/main" id="{219EFDC2-D76F-288C-AB60-752ABED2D5AF}"/>
              </a:ext>
            </a:extLst>
          </p:cNvPr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863" name="Google Shape;863;p54">
              <a:extLst>
                <a:ext uri="{FF2B5EF4-FFF2-40B4-BE49-F238E27FC236}">
                  <a16:creationId xmlns:a16="http://schemas.microsoft.com/office/drawing/2014/main" id="{917B87BC-E0A1-C770-879B-A60CDF8DA0FF}"/>
                </a:ext>
              </a:extLst>
            </p:cNvPr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64" name="Google Shape;864;p54">
              <a:extLst>
                <a:ext uri="{FF2B5EF4-FFF2-40B4-BE49-F238E27FC236}">
                  <a16:creationId xmlns:a16="http://schemas.microsoft.com/office/drawing/2014/main" id="{AC0F6014-3E0D-7AFB-34A0-2EA465DF4D31}"/>
                </a:ext>
              </a:extLst>
            </p:cNvPr>
            <p:cNvCxnSpPr>
              <a:stCxn id="863" idx="2"/>
              <a:endCxn id="826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1" name="Google Shape;871;p54">
            <a:extLst>
              <a:ext uri="{FF2B5EF4-FFF2-40B4-BE49-F238E27FC236}">
                <a16:creationId xmlns:a16="http://schemas.microsoft.com/office/drawing/2014/main" id="{04CB1766-B019-DD90-6563-EC3F92D07D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How To Run The Server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7" name="Google Shape;224;p34">
            <a:extLst>
              <a:ext uri="{FF2B5EF4-FFF2-40B4-BE49-F238E27FC236}">
                <a16:creationId xmlns:a16="http://schemas.microsoft.com/office/drawing/2014/main" id="{8BCEF55B-2411-838C-1B70-81EEF744F9BB}"/>
              </a:ext>
            </a:extLst>
          </p:cNvPr>
          <p:cNvSpPr txBox="1">
            <a:spLocks/>
          </p:cNvSpPr>
          <p:nvPr/>
        </p:nvSpPr>
        <p:spPr>
          <a:xfrm>
            <a:off x="4876725" y="3029281"/>
            <a:ext cx="3108922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pPr algn="r"/>
            <a:r>
              <a:rPr lang="en-US" sz="2400" dirty="0"/>
              <a:t>Running the Server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B22EA-74F2-8C60-8E32-F8057320A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88" y="1181094"/>
            <a:ext cx="3382788" cy="1971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1BE230-89A4-2B4D-FE18-649B637F1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390" y="1497297"/>
            <a:ext cx="5137592" cy="1652863"/>
          </a:xfrm>
          <a:prstGeom prst="rect">
            <a:avLst/>
          </a:prstGeom>
        </p:spPr>
      </p:pic>
      <p:sp>
        <p:nvSpPr>
          <p:cNvPr id="6" name="Google Shape;224;p34">
            <a:extLst>
              <a:ext uri="{FF2B5EF4-FFF2-40B4-BE49-F238E27FC236}">
                <a16:creationId xmlns:a16="http://schemas.microsoft.com/office/drawing/2014/main" id="{F3F89330-C159-4EC9-8054-81EA6404C7ED}"/>
              </a:ext>
            </a:extLst>
          </p:cNvPr>
          <p:cNvSpPr txBox="1">
            <a:spLocks/>
          </p:cNvSpPr>
          <p:nvPr/>
        </p:nvSpPr>
        <p:spPr>
          <a:xfrm>
            <a:off x="1514854" y="3029281"/>
            <a:ext cx="1303456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 b="0" i="0" u="none" strike="noStrike" cap="none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pPr algn="r"/>
            <a:r>
              <a:rPr lang="en-US" sz="2400" dirty="0"/>
              <a:t>Arbiter</a:t>
            </a:r>
          </a:p>
        </p:txBody>
      </p:sp>
    </p:spTree>
    <p:extLst>
      <p:ext uri="{BB962C8B-B14F-4D97-AF65-F5344CB8AC3E}">
        <p14:creationId xmlns:p14="http://schemas.microsoft.com/office/powerpoint/2010/main" val="864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8"/>
          <p:cNvSpPr/>
          <p:nvPr/>
        </p:nvSpPr>
        <p:spPr>
          <a:xfrm>
            <a:off x="4240375" y="476099"/>
            <a:ext cx="4624500" cy="4191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58"/>
          <p:cNvSpPr/>
          <p:nvPr/>
        </p:nvSpPr>
        <p:spPr>
          <a:xfrm>
            <a:off x="709375" y="739112"/>
            <a:ext cx="3442200" cy="7944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58"/>
          <p:cNvSpPr txBox="1">
            <a:spLocks noGrp="1"/>
          </p:cNvSpPr>
          <p:nvPr>
            <p:ph type="subTitle" idx="1"/>
          </p:nvPr>
        </p:nvSpPr>
        <p:spPr>
          <a:xfrm>
            <a:off x="857375" y="1562487"/>
            <a:ext cx="3146100" cy="21688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400" dirty="0">
                <a:latin typeface="Fugaz One" panose="020B0604020202020204" charset="0"/>
              </a:rPr>
              <a:t>Team members 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400" dirty="0">
                <a:latin typeface="Fugaz One" panose="020B0604020202020204" charset="0"/>
              </a:rPr>
              <a:t>Ahmed Hossam       221100101   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400" dirty="0">
                <a:latin typeface="Fugaz One" panose="020B0604020202020204" charset="0"/>
              </a:rPr>
              <a:t>Kareem Tarek          221101524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400" dirty="0">
                <a:latin typeface="Fugaz One" panose="020B0604020202020204" charset="0"/>
              </a:rPr>
              <a:t>Mazen Hossam        221100514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400" dirty="0" err="1">
                <a:latin typeface="Fugaz One" panose="020B0604020202020204" charset="0"/>
              </a:rPr>
              <a:t>Amro</a:t>
            </a:r>
            <a:r>
              <a:rPr lang="en-US" sz="1400" dirty="0">
                <a:latin typeface="Fugaz One" panose="020B0604020202020204" charset="0"/>
              </a:rPr>
              <a:t> Khaled           221100199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400" dirty="0">
                <a:latin typeface="Fugaz One" panose="020B0604020202020204" charset="0"/>
              </a:rPr>
              <a:t>Ahmed Samir           221101415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400" dirty="0">
                <a:latin typeface="Fugaz One" panose="020B0604020202020204" charset="0"/>
              </a:rPr>
              <a:t>Ahmed Mohamed    221100116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400" dirty="0">
                <a:latin typeface="Fugaz One" panose="020B0604020202020204" charset="0"/>
              </a:rPr>
              <a:t>          (AIE)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/>
          </a:p>
        </p:txBody>
      </p:sp>
      <p:pic>
        <p:nvPicPr>
          <p:cNvPr id="1030" name="Google Shape;103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5713" y="857775"/>
            <a:ext cx="4393823" cy="3337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1" name="Google Shape;1031;p58"/>
          <p:cNvCxnSpPr>
            <a:cxnSpLocks/>
            <a:stCxn id="1014" idx="1"/>
            <a:endCxn id="1015" idx="1"/>
          </p:cNvCxnSpPr>
          <p:nvPr/>
        </p:nvCxnSpPr>
        <p:spPr>
          <a:xfrm rot="10800000" flipH="1" flipV="1">
            <a:off x="709375" y="1136311"/>
            <a:ext cx="148000" cy="1510607"/>
          </a:xfrm>
          <a:prstGeom prst="bentConnector3">
            <a:avLst>
              <a:gd name="adj1" fmla="val -154459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2" name="Google Shape;1032;p58"/>
          <p:cNvCxnSpPr>
            <a:cxnSpLocks/>
            <a:stCxn id="1014" idx="3"/>
            <a:endCxn id="1015" idx="3"/>
          </p:cNvCxnSpPr>
          <p:nvPr/>
        </p:nvCxnSpPr>
        <p:spPr>
          <a:xfrm flipH="1">
            <a:off x="4003475" y="1136312"/>
            <a:ext cx="148100" cy="1510607"/>
          </a:xfrm>
          <a:prstGeom prst="bentConnector3">
            <a:avLst>
              <a:gd name="adj1" fmla="val -154355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33" name="Google Shape;1033;p58"/>
          <p:cNvGrpSpPr/>
          <p:nvPr/>
        </p:nvGrpSpPr>
        <p:grpSpPr>
          <a:xfrm>
            <a:off x="436250" y="3539489"/>
            <a:ext cx="3988350" cy="357899"/>
            <a:chOff x="401348" y="4309400"/>
            <a:chExt cx="3988350" cy="357899"/>
          </a:xfrm>
        </p:grpSpPr>
        <p:sp>
          <p:nvSpPr>
            <p:cNvPr id="1034" name="Google Shape;1034;p58"/>
            <p:cNvSpPr/>
            <p:nvPr/>
          </p:nvSpPr>
          <p:spPr>
            <a:xfrm flipH="1">
              <a:off x="401348" y="4309400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35" name="Google Shape;1035;p58"/>
            <p:cNvCxnSpPr>
              <a:cxnSpLocks/>
            </p:cNvCxnSpPr>
            <p:nvPr/>
          </p:nvCxnSpPr>
          <p:spPr>
            <a:xfrm rot="16200000" flipH="1">
              <a:off x="2395298" y="2707699"/>
              <a:ext cx="600" cy="3918600"/>
            </a:xfrm>
            <a:prstGeom prst="bentConnector3">
              <a:avLst>
                <a:gd name="adj1" fmla="val 396875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6" name="Google Shape;1036;p58"/>
            <p:cNvSpPr/>
            <p:nvPr/>
          </p:nvSpPr>
          <p:spPr>
            <a:xfrm flipH="1">
              <a:off x="4319798" y="4309400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7" name="Google Shape;1037;p58"/>
          <p:cNvSpPr txBox="1">
            <a:spLocks noGrp="1"/>
          </p:cNvSpPr>
          <p:nvPr>
            <p:ph type="title"/>
          </p:nvPr>
        </p:nvSpPr>
        <p:spPr>
          <a:xfrm>
            <a:off x="857375" y="660662"/>
            <a:ext cx="31461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THANKS!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DB1091-7285-4610-93B7-544BD386E7B8}"/>
              </a:ext>
            </a:extLst>
          </p:cNvPr>
          <p:cNvSpPr/>
          <p:nvPr/>
        </p:nvSpPr>
        <p:spPr>
          <a:xfrm>
            <a:off x="1025097" y="3398676"/>
            <a:ext cx="2810655" cy="665349"/>
          </a:xfrm>
          <a:prstGeom prst="rect">
            <a:avLst/>
          </a:prstGeom>
          <a:solidFill>
            <a:srgbClr val="0000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Fugaz One" panose="020B0604020202020204" charset="0"/>
              </a:rPr>
              <a:t>Any questions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7D38C0-44AB-4998-9281-82718CA7E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117" y="125957"/>
            <a:ext cx="2244427" cy="6131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oud Engineer CV by Slidesgo">
  <a:themeElements>
    <a:clrScheme name="Simple Light">
      <a:dk1>
        <a:srgbClr val="00000D"/>
      </a:dk1>
      <a:lt1>
        <a:srgbClr val="FFFFFF"/>
      </a:lt1>
      <a:dk2>
        <a:srgbClr val="6EEDDA"/>
      </a:dk2>
      <a:lt2>
        <a:srgbClr val="4098FD"/>
      </a:lt2>
      <a:accent1>
        <a:srgbClr val="584EFD"/>
      </a:accent1>
      <a:accent2>
        <a:srgbClr val="251AC0"/>
      </a:accent2>
      <a:accent3>
        <a:srgbClr val="2A118E"/>
      </a:accent3>
      <a:accent4>
        <a:srgbClr val="150248"/>
      </a:accent4>
      <a:accent5>
        <a:srgbClr val="6EEDDA"/>
      </a:accent5>
      <a:accent6>
        <a:srgbClr val="4098FD"/>
      </a:accent6>
      <a:hlink>
        <a:srgbClr val="6EEDD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289</Words>
  <Application>Microsoft Office PowerPoint</Application>
  <PresentationFormat>On-screen Show (16:9)</PresentationFormat>
  <Paragraphs>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Fugaz One</vt:lpstr>
      <vt:lpstr>Arial</vt:lpstr>
      <vt:lpstr>Catamaran</vt:lpstr>
      <vt:lpstr>Cloud Engineer CV by Slidesgo</vt:lpstr>
      <vt:lpstr>Cloud File Uploader</vt:lpstr>
      <vt:lpstr>INTRODUCTION</vt:lpstr>
      <vt:lpstr>Problem Statement</vt:lpstr>
      <vt:lpstr>Key Objectives</vt:lpstr>
      <vt:lpstr>Working Principle</vt:lpstr>
      <vt:lpstr>Architecture</vt:lpstr>
      <vt:lpstr>Front-End</vt:lpstr>
      <vt:lpstr>Frontend</vt:lpstr>
      <vt:lpstr>Frontend</vt:lpstr>
      <vt:lpstr>Frontend</vt:lpstr>
      <vt:lpstr>Backend</vt:lpstr>
      <vt:lpstr>How To Run The Server</vt:lpstr>
      <vt:lpstr>How To Run The Server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File Uploader</dc:title>
  <dc:creator>Ahmed</dc:creator>
  <cp:lastModifiedBy>Ahmed Hossam</cp:lastModifiedBy>
  <cp:revision>4</cp:revision>
  <dcterms:modified xsi:type="dcterms:W3CDTF">2025-05-15T12:48:40Z</dcterms:modified>
</cp:coreProperties>
</file>